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2CA1E32-2B6A-5D14-933F-3B93917EF787}">
          <p14:sldIdLst>
            <p14:sldId id="256"/>
          </p14:sldIdLst>
        </p14:section>
        <p14:section name="Concept" id="{BE5AADE9-4728-A6E8-9B4F-33C6113AD0F7}">
          <p14:sldIdLst>
            <p14:sldId id="257"/>
            <p14:sldId id="258"/>
          </p14:sldIdLst>
        </p14:section>
        <p14:section name="Implementation" id="{841BFBD6-B9CE-2E16-DF7B-79F7924FEF81}">
          <p14:sldIdLst>
            <p14:sldId id="259"/>
            <p14:sldId id="260"/>
            <p14:sldId id="261"/>
            <p14:sldId id="262"/>
          </p14:sldIdLst>
        </p14:section>
        <p14:section name="Data and Logic" id="{589A6916-B684-DC06-77A8-F16328E3BA23}">
          <p14:sldIdLst>
            <p14:sldId id="263"/>
            <p14:sldId id="264"/>
          </p14:sldIdLst>
        </p14:section>
        <p14:section name="Interface" id="{939D5251-82D6-B221-EFE9-D60CBB14B17F}">
          <p14:sldIdLst>
            <p14:sldId id="265"/>
          </p14:sldIdLst>
        </p14:section>
        <p14:section name="Review" id="{2ADD4A06-F395-6AB5-CA8B-3E5339084527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324F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16324F"/>
                </a:solidFill>
                <a:latin typeface="+mn-lt"/>
              </a:rPr>
              <a:t>Questions per category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spPr>
            <a:solidFill>
              <a:srgbClr val="2F80C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1D3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HTML</c:v>
                </c:pt>
                <c:pt idx="1">
                  <c:v>CSS</c:v>
                </c:pt>
                <c:pt idx="2">
                  <c:v>JavaScript</c:v>
                </c:pt>
                <c:pt idx="3">
                  <c:v>PHP</c:v>
                </c:pt>
                <c:pt idx="4">
                  <c:v>MySQL</c:v>
                </c:pt>
                <c:pt idx="5">
                  <c:v>Viva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5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9E-497A-B808-999FACF4486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324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6350" cap="flat">
              <a:solidFill>
                <a:srgbClr val="D5E2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268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WebDevPrep: a front-end-only portal built with HTML, CSS and JavaScript that runs entirely in the browser using LocalStorage.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47548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880360"/>
            <a:ext cx="4754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EA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Interview Prep System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144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Web Development</a:t>
            </a:r>
            <a:endParaRPr lang="en-US" sz="2800" b="1" dirty="0"/>
          </a:p>
        </p:txBody>
      </p:sp>
      <p:sp>
        <p:nvSpPr>
          <p:cNvPr id="4" name="Subject"/>
          <p:cNvSpPr txBox="1"/>
          <p:nvPr/>
        </p:nvSpPr>
        <p:spPr>
          <a:xfrm>
            <a:off x="548640" y="382451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Presenter"/>
          <p:cNvSpPr txBox="1"/>
          <p:nvPr/>
        </p:nvSpPr>
        <p:spPr>
          <a:xfrm>
            <a:off x="548640" y="4160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Het Patel(12502080803007)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Riddhi Patel(1240208060115)</a:t>
            </a:r>
            <a:endParaRPr lang="en-US" sz="1200" dirty="0"/>
          </a:p>
        </p:txBody>
      </p:sp>
      <p:sp>
        <p:nvSpPr>
          <p:cNvPr id="6" name="Halo outer"/>
          <p:cNvSpPr/>
          <p:nvPr/>
        </p:nvSpPr>
        <p:spPr>
          <a:xfrm>
            <a:off x="5760720" y="1005840"/>
            <a:ext cx="2926080" cy="2926080"/>
          </a:xfrm>
          <a:prstGeom prst="ellipse">
            <a:avLst/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7" name="Halo inner"/>
          <p:cNvSpPr/>
          <p:nvPr/>
        </p:nvSpPr>
        <p:spPr>
          <a:xfrm>
            <a:off x="6172200" y="1417320"/>
            <a:ext cx="2103120" cy="2103120"/>
          </a:xfrm>
          <a:prstGeom prst="ellipse">
            <a:avLst/>
          </a:prstGeom>
          <a:solidFill>
            <a:schemeClr val="accent1">
              <a:alpha val="35000"/>
            </a:schemeClr>
          </a:solidFill>
          <a:ln/>
        </p:spPr>
      </p:sp>
      <p:pic>
        <p:nvPicPr>
          <p:cNvPr id="8" name="Graduation icon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46520" y="1828800"/>
            <a:ext cx="155448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Project overview</a:t>
            </a:r>
            <a:endParaRPr lang="en-US" sz="3400" dirty="0"/>
          </a:p>
        </p:txBody>
      </p:sp>
      <p:sp>
        <p:nvSpPr>
          <p:cNvPr id="3" name="Overview card 1"/>
          <p:cNvSpPr/>
          <p:nvPr/>
        </p:nvSpPr>
        <p:spPr>
          <a:xfrm>
            <a:off x="548640" y="1371600"/>
            <a:ext cx="2560320" cy="246888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B1D33">
                <a:alpha val="12000"/>
              </a:srgbClr>
            </a:outerShdw>
          </a:effectLst>
        </p:spPr>
      </p:sp>
      <p:sp>
        <p:nvSpPr>
          <p:cNvPr id="4" name="Overview 1 circle"/>
          <p:cNvSpPr/>
          <p:nvPr/>
        </p:nvSpPr>
        <p:spPr>
          <a:xfrm>
            <a:off x="777240" y="16002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Overview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760220"/>
            <a:ext cx="320040" cy="320040"/>
          </a:xfrm>
          <a:prstGeom prst="rect">
            <a:avLst/>
          </a:prstGeom>
        </p:spPr>
      </p:pic>
      <p:sp>
        <p:nvSpPr>
          <p:cNvPr id="6" name="Overview head 1"/>
          <p:cNvSpPr txBox="1"/>
          <p:nvPr/>
        </p:nvSpPr>
        <p:spPr>
          <a:xfrm>
            <a:off x="777240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Learn</a:t>
            </a:r>
            <a:endParaRPr lang="en-US" sz="2000" dirty="0"/>
          </a:p>
        </p:txBody>
      </p:sp>
      <p:sp>
        <p:nvSpPr>
          <p:cNvPr id="7" name="Overview text 1"/>
          <p:cNvSpPr txBox="1"/>
          <p:nvPr/>
        </p:nvSpPr>
        <p:spPr>
          <a:xfrm>
            <a:off x="777240" y="27889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Browse 25 viva questions in six categories and toggle each answer.</a:t>
            </a:r>
            <a:endParaRPr lang="en-US" sz="1400" dirty="0"/>
          </a:p>
        </p:txBody>
      </p:sp>
      <p:sp>
        <p:nvSpPr>
          <p:cNvPr id="8" name="Overview card 2"/>
          <p:cNvSpPr/>
          <p:nvPr/>
        </p:nvSpPr>
        <p:spPr>
          <a:xfrm>
            <a:off x="3291840" y="1371600"/>
            <a:ext cx="2560320" cy="246888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B1D33">
                <a:alpha val="12000"/>
              </a:srgbClr>
            </a:outerShdw>
          </a:effectLst>
        </p:spPr>
      </p:sp>
      <p:sp>
        <p:nvSpPr>
          <p:cNvPr id="9" name="Overview 2 circle"/>
          <p:cNvSpPr/>
          <p:nvPr/>
        </p:nvSpPr>
        <p:spPr>
          <a:xfrm>
            <a:off x="352044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Overview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1760220"/>
            <a:ext cx="320040" cy="320040"/>
          </a:xfrm>
          <a:prstGeom prst="rect">
            <a:avLst/>
          </a:prstGeom>
        </p:spPr>
      </p:pic>
      <p:sp>
        <p:nvSpPr>
          <p:cNvPr id="11" name="Overview head 2"/>
          <p:cNvSpPr txBox="1"/>
          <p:nvPr/>
        </p:nvSpPr>
        <p:spPr>
          <a:xfrm>
            <a:off x="3520440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Practice</a:t>
            </a:r>
            <a:endParaRPr lang="en-US" sz="2000" dirty="0"/>
          </a:p>
        </p:txBody>
      </p:sp>
      <p:sp>
        <p:nvSpPr>
          <p:cNvPr id="12" name="Overview text 2"/>
          <p:cNvSpPr txBox="1"/>
          <p:nvPr/>
        </p:nvSpPr>
        <p:spPr>
          <a:xfrm>
            <a:off x="3520440" y="27889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Take a 10-question MCQ mock test against a 10-minute countdown.</a:t>
            </a:r>
            <a:endParaRPr lang="en-US" sz="1400" dirty="0"/>
          </a:p>
        </p:txBody>
      </p:sp>
      <p:sp>
        <p:nvSpPr>
          <p:cNvPr id="13" name="Overview card 3"/>
          <p:cNvSpPr/>
          <p:nvPr/>
        </p:nvSpPr>
        <p:spPr>
          <a:xfrm>
            <a:off x="6035040" y="1371600"/>
            <a:ext cx="2560320" cy="246888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B1D33">
                <a:alpha val="12000"/>
              </a:srgbClr>
            </a:outerShdw>
          </a:effectLst>
        </p:spPr>
      </p:sp>
      <p:sp>
        <p:nvSpPr>
          <p:cNvPr id="14" name="Overview 3 circle"/>
          <p:cNvSpPr/>
          <p:nvPr/>
        </p:nvSpPr>
        <p:spPr>
          <a:xfrm>
            <a:off x="6263640" y="160020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Overview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3660" y="1760220"/>
            <a:ext cx="320040" cy="320040"/>
          </a:xfrm>
          <a:prstGeom prst="rect">
            <a:avLst/>
          </a:prstGeom>
        </p:spPr>
      </p:pic>
      <p:sp>
        <p:nvSpPr>
          <p:cNvPr id="16" name="Overview head 3"/>
          <p:cNvSpPr txBox="1"/>
          <p:nvPr/>
        </p:nvSpPr>
        <p:spPr>
          <a:xfrm>
            <a:off x="6263640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Review</a:t>
            </a:r>
            <a:endParaRPr lang="en-US" sz="2000" dirty="0"/>
          </a:p>
        </p:txBody>
      </p:sp>
      <p:sp>
        <p:nvSpPr>
          <p:cNvPr id="17" name="Overview text 3"/>
          <p:cNvSpPr txBox="1"/>
          <p:nvPr/>
        </p:nvSpPr>
        <p:spPr>
          <a:xfrm>
            <a:off x="6263640" y="27889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See your score, pass or fail, and an explanation for every question.</a:t>
            </a:r>
            <a:endParaRPr lang="en-US" sz="1400" dirty="0"/>
          </a:p>
        </p:txBody>
      </p:sp>
      <p:sp>
        <p:nvSpPr>
          <p:cNvPr id="18" name="Overview tagline"/>
          <p:cNvSpPr txBox="1"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Everything runs in the browser, so it works offline with no server.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Technologies used</a:t>
            </a:r>
            <a:endParaRPr lang="en-US" sz="3400" dirty="0"/>
          </a:p>
        </p:txBody>
      </p:sp>
      <p:sp>
        <p:nvSpPr>
          <p:cNvPr id="3" name="Tech 1 circle"/>
          <p:cNvSpPr/>
          <p:nvPr/>
        </p:nvSpPr>
        <p:spPr>
          <a:xfrm>
            <a:off x="548640" y="128016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Tech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" y="1428750"/>
            <a:ext cx="297180" cy="297180"/>
          </a:xfrm>
          <a:prstGeom prst="rect">
            <a:avLst/>
          </a:prstGeom>
        </p:spPr>
      </p:pic>
      <p:sp>
        <p:nvSpPr>
          <p:cNvPr id="5" name="Tech head 1"/>
          <p:cNvSpPr txBox="1"/>
          <p:nvPr/>
        </p:nvSpPr>
        <p:spPr>
          <a:xfrm>
            <a:off x="1325880" y="12618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HTML5</a:t>
            </a:r>
            <a:endParaRPr lang="en-US" sz="1800" dirty="0"/>
          </a:p>
        </p:txBody>
      </p:sp>
      <p:sp>
        <p:nvSpPr>
          <p:cNvPr id="6" name="Tech text 1"/>
          <p:cNvSpPr txBox="1"/>
          <p:nvPr/>
        </p:nvSpPr>
        <p:spPr>
          <a:xfrm>
            <a:off x="1325880" y="15819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Ten linked pages with semantic structure</a:t>
            </a:r>
            <a:endParaRPr lang="en-US" sz="1400" dirty="0"/>
          </a:p>
        </p:txBody>
      </p:sp>
      <p:sp>
        <p:nvSpPr>
          <p:cNvPr id="7" name="Tech 2 circle"/>
          <p:cNvSpPr/>
          <p:nvPr/>
        </p:nvSpPr>
        <p:spPr>
          <a:xfrm>
            <a:off x="548640" y="21488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Tech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" y="2297430"/>
            <a:ext cx="297180" cy="297180"/>
          </a:xfrm>
          <a:prstGeom prst="rect">
            <a:avLst/>
          </a:prstGeom>
        </p:spPr>
      </p:pic>
      <p:sp>
        <p:nvSpPr>
          <p:cNvPr id="9" name="Tech head 2"/>
          <p:cNvSpPr txBox="1"/>
          <p:nvPr/>
        </p:nvSpPr>
        <p:spPr>
          <a:xfrm>
            <a:off x="1325880" y="21305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CSS3</a:t>
            </a:r>
            <a:endParaRPr lang="en-US" sz="1800" dirty="0"/>
          </a:p>
        </p:txBody>
      </p:sp>
      <p:sp>
        <p:nvSpPr>
          <p:cNvPr id="10" name="Tech text 2"/>
          <p:cNvSpPr txBox="1"/>
          <p:nvPr/>
        </p:nvSpPr>
        <p:spPr>
          <a:xfrm>
            <a:off x="1325880" y="24505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Grid, Flexbox and CSS variables for a blue theme</a:t>
            </a:r>
            <a:endParaRPr lang="en-US" sz="1400" dirty="0"/>
          </a:p>
        </p:txBody>
      </p:sp>
      <p:sp>
        <p:nvSpPr>
          <p:cNvPr id="11" name="Tech 3 circle"/>
          <p:cNvSpPr/>
          <p:nvPr/>
        </p:nvSpPr>
        <p:spPr>
          <a:xfrm>
            <a:off x="548640" y="301752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Tech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30" y="3166110"/>
            <a:ext cx="297180" cy="297180"/>
          </a:xfrm>
          <a:prstGeom prst="rect">
            <a:avLst/>
          </a:prstGeom>
        </p:spPr>
      </p:pic>
      <p:sp>
        <p:nvSpPr>
          <p:cNvPr id="13" name="Tech head 3"/>
          <p:cNvSpPr txBox="1"/>
          <p:nvPr/>
        </p:nvSpPr>
        <p:spPr>
          <a:xfrm>
            <a:off x="1325880" y="29992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Vanilla JavaScript</a:t>
            </a:r>
            <a:endParaRPr lang="en-US" sz="1800" dirty="0"/>
          </a:p>
        </p:txBody>
      </p:sp>
      <p:sp>
        <p:nvSpPr>
          <p:cNvPr id="14" name="Tech text 3"/>
          <p:cNvSpPr txBox="1"/>
          <p:nvPr/>
        </p:nvSpPr>
        <p:spPr>
          <a:xfrm>
            <a:off x="1325880" y="33192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ES6 events, timers and DOM updates</a:t>
            </a:r>
            <a:endParaRPr lang="en-US" sz="1400" dirty="0"/>
          </a:p>
        </p:txBody>
      </p:sp>
      <p:sp>
        <p:nvSpPr>
          <p:cNvPr id="15" name="Tech 4 circle"/>
          <p:cNvSpPr/>
          <p:nvPr/>
        </p:nvSpPr>
        <p:spPr>
          <a:xfrm>
            <a:off x="548640" y="3886200"/>
            <a:ext cx="594360" cy="5943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6" name="Tech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230" y="4034790"/>
            <a:ext cx="297180" cy="297180"/>
          </a:xfrm>
          <a:prstGeom prst="rect">
            <a:avLst/>
          </a:prstGeom>
        </p:spPr>
      </p:pic>
      <p:sp>
        <p:nvSpPr>
          <p:cNvPr id="17" name="Tech head 4"/>
          <p:cNvSpPr txBox="1"/>
          <p:nvPr/>
        </p:nvSpPr>
        <p:spPr>
          <a:xfrm>
            <a:off x="1325880" y="38679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LocalStorage</a:t>
            </a:r>
            <a:endParaRPr lang="en-US" sz="1800" dirty="0"/>
          </a:p>
        </p:txBody>
      </p:sp>
      <p:sp>
        <p:nvSpPr>
          <p:cNvPr id="18" name="Tech text 4"/>
          <p:cNvSpPr txBox="1"/>
          <p:nvPr/>
        </p:nvSpPr>
        <p:spPr>
          <a:xfrm>
            <a:off x="1325880" y="4187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Accounts, sessions and test history</a:t>
            </a:r>
            <a:endParaRPr lang="en-US" sz="1400" dirty="0"/>
          </a:p>
        </p:txBody>
      </p:sp>
      <p:sp>
        <p:nvSpPr>
          <p:cNvPr id="19" name="Stats panel"/>
          <p:cNvSpPr/>
          <p:nvPr/>
        </p:nvSpPr>
        <p:spPr>
          <a:xfrm>
            <a:off x="5760720" y="1280160"/>
            <a:ext cx="2834640" cy="3291840"/>
          </a:xfrm>
          <a:prstGeom prst="roundRect">
            <a:avLst>
              <a:gd name="adj" fmla="val 3871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B1D33">
                <a:alpha val="12000"/>
              </a:srgbClr>
            </a:outerShdw>
          </a:effectLst>
        </p:spPr>
      </p:sp>
      <p:sp>
        <p:nvSpPr>
          <p:cNvPr id="20" name="Stat number 1"/>
          <p:cNvSpPr txBox="1"/>
          <p:nvPr/>
        </p:nvSpPr>
        <p:spPr>
          <a:xfrm>
            <a:off x="5989320" y="1417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10</a:t>
            </a:r>
            <a:endParaRPr lang="en-US" sz="4400" dirty="0"/>
          </a:p>
        </p:txBody>
      </p:sp>
      <p:sp>
        <p:nvSpPr>
          <p:cNvPr id="21" name="Stat label 1"/>
          <p:cNvSpPr txBox="1"/>
          <p:nvPr/>
        </p:nvSpPr>
        <p:spPr>
          <a:xfrm>
            <a:off x="6949440" y="1417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HTML pages</a:t>
            </a:r>
            <a:endParaRPr lang="en-US" sz="1600" dirty="0"/>
          </a:p>
        </p:txBody>
      </p:sp>
      <p:sp>
        <p:nvSpPr>
          <p:cNvPr id="22" name="Stat number 2"/>
          <p:cNvSpPr txBox="1"/>
          <p:nvPr/>
        </p:nvSpPr>
        <p:spPr>
          <a:xfrm>
            <a:off x="5989320" y="24688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25</a:t>
            </a:r>
            <a:endParaRPr lang="en-US" sz="4400" dirty="0"/>
          </a:p>
        </p:txBody>
      </p:sp>
      <p:sp>
        <p:nvSpPr>
          <p:cNvPr id="23" name="Stat label 2"/>
          <p:cNvSpPr txBox="1"/>
          <p:nvPr/>
        </p:nvSpPr>
        <p:spPr>
          <a:xfrm>
            <a:off x="6949440" y="24688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viva questions</a:t>
            </a:r>
            <a:endParaRPr lang="en-US" sz="1600" dirty="0"/>
          </a:p>
        </p:txBody>
      </p:sp>
      <p:sp>
        <p:nvSpPr>
          <p:cNvPr id="24" name="Stat number 3"/>
          <p:cNvSpPr txBox="1"/>
          <p:nvPr/>
        </p:nvSpPr>
        <p:spPr>
          <a:xfrm>
            <a:off x="5989320" y="3520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10</a:t>
            </a:r>
            <a:endParaRPr lang="en-US" sz="4400" dirty="0"/>
          </a:p>
        </p:txBody>
      </p:sp>
      <p:sp>
        <p:nvSpPr>
          <p:cNvPr id="25" name="Stat label 3"/>
          <p:cNvSpPr txBox="1"/>
          <p:nvPr/>
        </p:nvSpPr>
        <p:spPr>
          <a:xfrm>
            <a:off x="6949440" y="3520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timed MCQs</a:t>
            </a:r>
            <a:endParaRPr lang="en-US" sz="16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How a student uses it</a:t>
            </a:r>
            <a:endParaRPr lang="en-US" sz="3400" dirty="0"/>
          </a:p>
        </p:txBody>
      </p:sp>
      <p:sp>
        <p:nvSpPr>
          <p:cNvPr id="3" name="Flow box 1"/>
          <p:cNvSpPr/>
          <p:nvPr/>
        </p:nvSpPr>
        <p:spPr>
          <a:xfrm>
            <a:off x="548640" y="1463040"/>
            <a:ext cx="1737360" cy="1188720"/>
          </a:xfrm>
          <a:prstGeom prst="roundRect">
            <a:avLst>
              <a:gd name="adj" fmla="val 9231"/>
            </a:avLst>
          </a:prstGeom>
          <a:solidFill>
            <a:schemeClr val="accent2"/>
          </a:solidFill>
          <a:ln/>
        </p:spPr>
      </p:sp>
      <p:sp>
        <p:nvSpPr>
          <p:cNvPr id="4" name="Flow num 1"/>
          <p:cNvSpPr txBox="1"/>
          <p:nvPr/>
        </p:nvSpPr>
        <p:spPr>
          <a:xfrm>
            <a:off x="548640" y="15361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</a:rPr>
              <a:t>1</a:t>
            </a:r>
            <a:endParaRPr lang="en-US" sz="2800" dirty="0"/>
          </a:p>
        </p:txBody>
      </p:sp>
      <p:sp>
        <p:nvSpPr>
          <p:cNvPr id="5" name="Flow title 1"/>
          <p:cNvSpPr txBox="1"/>
          <p:nvPr/>
        </p:nvSpPr>
        <p:spPr>
          <a:xfrm>
            <a:off x="548640" y="2011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Sign in</a:t>
            </a:r>
            <a:endParaRPr lang="en-US" sz="2000" dirty="0"/>
          </a:p>
        </p:txBody>
      </p:sp>
      <p:sp>
        <p:nvSpPr>
          <p:cNvPr id="6" name="Flow text 1"/>
          <p:cNvSpPr txBox="1"/>
          <p:nvPr/>
        </p:nvSpPr>
        <p:spPr>
          <a:xfrm>
            <a:off x="548640" y="28803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Register or log in with the demo account</a:t>
            </a:r>
            <a:endParaRPr lang="en-US" sz="1400" dirty="0"/>
          </a:p>
        </p:txBody>
      </p:sp>
      <p:sp>
        <p:nvSpPr>
          <p:cNvPr id="7" name="Flow arrow 1"/>
          <p:cNvSpPr/>
          <p:nvPr/>
        </p:nvSpPr>
        <p:spPr>
          <a:xfrm>
            <a:off x="2359152" y="1920240"/>
            <a:ext cx="237744" cy="237744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Flow box 2"/>
          <p:cNvSpPr/>
          <p:nvPr/>
        </p:nvSpPr>
        <p:spPr>
          <a:xfrm>
            <a:off x="2651760" y="1463040"/>
            <a:ext cx="1737360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/>
        </p:spPr>
      </p:sp>
      <p:sp>
        <p:nvSpPr>
          <p:cNvPr id="9" name="Flow num 2"/>
          <p:cNvSpPr txBox="1"/>
          <p:nvPr/>
        </p:nvSpPr>
        <p:spPr>
          <a:xfrm>
            <a:off x="2651760" y="15361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</a:rPr>
              <a:t>2</a:t>
            </a:r>
            <a:endParaRPr lang="en-US" sz="2800" dirty="0"/>
          </a:p>
        </p:txBody>
      </p:sp>
      <p:sp>
        <p:nvSpPr>
          <p:cNvPr id="10" name="Flow title 2"/>
          <p:cNvSpPr txBox="1"/>
          <p:nvPr/>
        </p:nvSpPr>
        <p:spPr>
          <a:xfrm>
            <a:off x="2651760" y="2011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Study</a:t>
            </a:r>
            <a:endParaRPr lang="en-US" sz="2000" dirty="0"/>
          </a:p>
        </p:txBody>
      </p:sp>
      <p:sp>
        <p:nvSpPr>
          <p:cNvPr id="11" name="Flow text 2"/>
          <p:cNvSpPr txBox="1"/>
          <p:nvPr/>
        </p:nvSpPr>
        <p:spPr>
          <a:xfrm>
            <a:off x="2651760" y="28803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Filter and search the 25 questions</a:t>
            </a:r>
            <a:endParaRPr lang="en-US" sz="1400" dirty="0"/>
          </a:p>
        </p:txBody>
      </p:sp>
      <p:sp>
        <p:nvSpPr>
          <p:cNvPr id="12" name="Flow arrow 2"/>
          <p:cNvSpPr/>
          <p:nvPr/>
        </p:nvSpPr>
        <p:spPr>
          <a:xfrm>
            <a:off x="4462272" y="1920240"/>
            <a:ext cx="237744" cy="237744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Flow box 3"/>
          <p:cNvSpPr/>
          <p:nvPr/>
        </p:nvSpPr>
        <p:spPr>
          <a:xfrm>
            <a:off x="4754880" y="1463040"/>
            <a:ext cx="1737360" cy="1188720"/>
          </a:xfrm>
          <a:prstGeom prst="roundRect">
            <a:avLst>
              <a:gd name="adj" fmla="val 9231"/>
            </a:avLst>
          </a:prstGeom>
          <a:solidFill>
            <a:schemeClr val="accent5"/>
          </a:solidFill>
          <a:ln/>
        </p:spPr>
      </p:sp>
      <p:sp>
        <p:nvSpPr>
          <p:cNvPr id="14" name="Flow num 3"/>
          <p:cNvSpPr txBox="1"/>
          <p:nvPr/>
        </p:nvSpPr>
        <p:spPr>
          <a:xfrm>
            <a:off x="4754880" y="15361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</a:rPr>
              <a:t>3</a:t>
            </a:r>
            <a:endParaRPr lang="en-US" sz="2800" dirty="0"/>
          </a:p>
        </p:txBody>
      </p:sp>
      <p:sp>
        <p:nvSpPr>
          <p:cNvPr id="15" name="Flow title 3"/>
          <p:cNvSpPr txBox="1"/>
          <p:nvPr/>
        </p:nvSpPr>
        <p:spPr>
          <a:xfrm>
            <a:off x="4754880" y="2011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Test</a:t>
            </a:r>
            <a:endParaRPr lang="en-US" sz="2000" dirty="0"/>
          </a:p>
        </p:txBody>
      </p:sp>
      <p:sp>
        <p:nvSpPr>
          <p:cNvPr id="16" name="Flow text 3"/>
          <p:cNvSpPr txBox="1"/>
          <p:nvPr/>
        </p:nvSpPr>
        <p:spPr>
          <a:xfrm>
            <a:off x="4754880" y="28803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Answer 10 MCQs within 10 minutes</a:t>
            </a:r>
            <a:endParaRPr lang="en-US" sz="1400" dirty="0"/>
          </a:p>
        </p:txBody>
      </p:sp>
      <p:sp>
        <p:nvSpPr>
          <p:cNvPr id="17" name="Flow arrow 3"/>
          <p:cNvSpPr/>
          <p:nvPr/>
        </p:nvSpPr>
        <p:spPr>
          <a:xfrm>
            <a:off x="6565392" y="1920240"/>
            <a:ext cx="237744" cy="237744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Flow box 4"/>
          <p:cNvSpPr/>
          <p:nvPr/>
        </p:nvSpPr>
        <p:spPr>
          <a:xfrm>
            <a:off x="6858000" y="1463040"/>
            <a:ext cx="1737360" cy="1188720"/>
          </a:xfrm>
          <a:prstGeom prst="roundRect">
            <a:avLst>
              <a:gd name="adj" fmla="val 9231"/>
            </a:avLst>
          </a:prstGeom>
          <a:solidFill>
            <a:schemeClr val="accent3"/>
          </a:solidFill>
          <a:ln/>
        </p:spPr>
      </p:sp>
      <p:sp>
        <p:nvSpPr>
          <p:cNvPr id="19" name="Flow num 4"/>
          <p:cNvSpPr txBox="1"/>
          <p:nvPr/>
        </p:nvSpPr>
        <p:spPr>
          <a:xfrm>
            <a:off x="6858000" y="15361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</a:rPr>
              <a:t>4</a:t>
            </a:r>
            <a:endParaRPr lang="en-US" sz="2800" dirty="0"/>
          </a:p>
        </p:txBody>
      </p:sp>
      <p:sp>
        <p:nvSpPr>
          <p:cNvPr id="20" name="Flow title 4"/>
          <p:cNvSpPr txBox="1"/>
          <p:nvPr/>
        </p:nvSpPr>
        <p:spPr>
          <a:xfrm>
            <a:off x="6858000" y="2011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Review</a:t>
            </a:r>
            <a:endParaRPr lang="en-US" sz="2000" dirty="0"/>
          </a:p>
        </p:txBody>
      </p:sp>
      <p:sp>
        <p:nvSpPr>
          <p:cNvPr id="21" name="Flow text 4"/>
          <p:cNvSpPr txBox="1"/>
          <p:nvPr/>
        </p:nvSpPr>
        <p:spPr>
          <a:xfrm>
            <a:off x="6858000" y="28803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Check the score and explanations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Project structure</a:t>
            </a:r>
            <a:endParaRPr lang="en-US" sz="3400" dirty="0"/>
          </a:p>
        </p:txBody>
      </p:sp>
      <p:sp>
        <p:nvSpPr>
          <p:cNvPr id="3" name="File tree box"/>
          <p:cNvSpPr/>
          <p:nvPr/>
        </p:nvSpPr>
        <p:spPr>
          <a:xfrm>
            <a:off x="548640" y="1280160"/>
            <a:ext cx="3840480" cy="3200400"/>
          </a:xfrm>
          <a:prstGeom prst="roundRect">
            <a:avLst>
              <a:gd name="adj" fmla="val 2857"/>
            </a:avLst>
          </a:prstGeom>
          <a:solidFill>
            <a:schemeClr val="tx1"/>
          </a:solidFill>
          <a:ln/>
        </p:spPr>
      </p:sp>
      <p:sp>
        <p:nvSpPr>
          <p:cNvPr id="4" name="File tree"/>
          <p:cNvSpPr txBox="1"/>
          <p:nvPr/>
        </p:nvSpPr>
        <p:spPr>
          <a:xfrm>
            <a:off x="731520" y="141732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webdevprep/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index.html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login.html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register.html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dashboard.html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questions.html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mock-test.html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result.html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results.html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profile.html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admin.html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css/style.css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js/app.js</a:t>
            </a:r>
            <a:endParaRPr lang="en-US" sz="1200" dirty="0"/>
          </a:p>
        </p:txBody>
      </p:sp>
      <p:sp>
        <p:nvSpPr>
          <p:cNvPr id="5" name="Role card 1"/>
          <p:cNvSpPr/>
          <p:nvPr/>
        </p:nvSpPr>
        <p:spPr>
          <a:xfrm>
            <a:off x="4754880" y="1280160"/>
            <a:ext cx="384048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B1D33">
                <a:alpha val="12000"/>
              </a:srgbClr>
            </a:outerShdw>
          </a:effectLst>
        </p:spPr>
      </p:sp>
      <p:sp>
        <p:nvSpPr>
          <p:cNvPr id="6" name="Role head 1"/>
          <p:cNvSpPr txBox="1"/>
          <p:nvPr/>
        </p:nvSpPr>
        <p:spPr>
          <a:xfrm>
            <a:off x="4983480" y="1371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View</a:t>
            </a:r>
            <a:endParaRPr lang="en-US" sz="1800" dirty="0"/>
          </a:p>
        </p:txBody>
      </p:sp>
      <p:sp>
        <p:nvSpPr>
          <p:cNvPr id="7" name="Role file 1"/>
          <p:cNvSpPr txBox="1"/>
          <p:nvPr/>
        </p:nvSpPr>
        <p:spPr>
          <a:xfrm>
            <a:off x="6309360" y="1371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HTML pages</a:t>
            </a:r>
            <a:endParaRPr lang="en-US" sz="1400" dirty="0"/>
          </a:p>
        </p:txBody>
      </p:sp>
      <p:sp>
        <p:nvSpPr>
          <p:cNvPr id="8" name="Role text 1"/>
          <p:cNvSpPr txBox="1"/>
          <p:nvPr/>
        </p:nvSpPr>
        <p:spPr>
          <a:xfrm>
            <a:off x="498348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Shared header, banner and footer</a:t>
            </a:r>
            <a:endParaRPr lang="en-US" sz="1400" dirty="0"/>
          </a:p>
        </p:txBody>
      </p:sp>
      <p:sp>
        <p:nvSpPr>
          <p:cNvPr id="9" name="Role card 2"/>
          <p:cNvSpPr/>
          <p:nvPr/>
        </p:nvSpPr>
        <p:spPr>
          <a:xfrm>
            <a:off x="4754880" y="2377440"/>
            <a:ext cx="384048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B1D33">
                <a:alpha val="12000"/>
              </a:srgbClr>
            </a:outerShdw>
          </a:effectLst>
        </p:spPr>
      </p:sp>
      <p:sp>
        <p:nvSpPr>
          <p:cNvPr id="10" name="Role head 2"/>
          <p:cNvSpPr txBox="1"/>
          <p:nvPr/>
        </p:nvSpPr>
        <p:spPr>
          <a:xfrm>
            <a:off x="4983480" y="2468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Style</a:t>
            </a:r>
            <a:endParaRPr lang="en-US" sz="1800" dirty="0"/>
          </a:p>
        </p:txBody>
      </p:sp>
      <p:sp>
        <p:nvSpPr>
          <p:cNvPr id="11" name="Role file 2"/>
          <p:cNvSpPr txBox="1"/>
          <p:nvPr/>
        </p:nvSpPr>
        <p:spPr>
          <a:xfrm>
            <a:off x="6309360" y="2468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400" dirty="0"/>
          </a:p>
        </p:txBody>
      </p:sp>
      <p:sp>
        <p:nvSpPr>
          <p:cNvPr id="12" name="Role text 2"/>
          <p:cNvSpPr txBox="1"/>
          <p:nvPr/>
        </p:nvSpPr>
        <p:spPr>
          <a:xfrm>
            <a:off x="498348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Theme variables, grid, cards, tables</a:t>
            </a:r>
            <a:endParaRPr lang="en-US" sz="1400" dirty="0"/>
          </a:p>
        </p:txBody>
      </p:sp>
      <p:sp>
        <p:nvSpPr>
          <p:cNvPr id="13" name="Role card 3"/>
          <p:cNvSpPr/>
          <p:nvPr/>
        </p:nvSpPr>
        <p:spPr>
          <a:xfrm>
            <a:off x="4754880" y="3474720"/>
            <a:ext cx="384048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B1D33">
                <a:alpha val="12000"/>
              </a:srgbClr>
            </a:outerShdw>
          </a:effectLst>
        </p:spPr>
      </p:sp>
      <p:sp>
        <p:nvSpPr>
          <p:cNvPr id="14" name="Role head 3"/>
          <p:cNvSpPr txBox="1"/>
          <p:nvPr/>
        </p:nvSpPr>
        <p:spPr>
          <a:xfrm>
            <a:off x="4983480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Logic</a:t>
            </a:r>
            <a:endParaRPr lang="en-US" sz="1800" dirty="0"/>
          </a:p>
        </p:txBody>
      </p:sp>
      <p:sp>
        <p:nvSpPr>
          <p:cNvPr id="15" name="Role file 3"/>
          <p:cNvSpPr txBox="1"/>
          <p:nvPr/>
        </p:nvSpPr>
        <p:spPr>
          <a:xfrm>
            <a:off x="6309360" y="3566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</a:t>
            </a:r>
            <a:endParaRPr lang="en-US" sz="1400" dirty="0"/>
          </a:p>
        </p:txBody>
      </p:sp>
      <p:sp>
        <p:nvSpPr>
          <p:cNvPr id="16" name="Role text 3"/>
          <p:cNvSpPr txBox="1"/>
          <p:nvPr/>
        </p:nvSpPr>
        <p:spPr>
          <a:xfrm>
            <a:off x="4983480" y="3931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Data, storage and every page script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Question data in app.js</a:t>
            </a:r>
            <a:endParaRPr lang="en-US" sz="3400" dirty="0"/>
          </a:p>
        </p:txBody>
      </p:sp>
      <p:sp>
        <p:nvSpPr>
          <p:cNvPr id="3" name="Data code box"/>
          <p:cNvSpPr/>
          <p:nvPr/>
        </p:nvSpPr>
        <p:spPr>
          <a:xfrm>
            <a:off x="548640" y="1280160"/>
            <a:ext cx="4572000" cy="3200400"/>
          </a:xfrm>
          <a:prstGeom prst="roundRect">
            <a:avLst>
              <a:gd name="adj" fmla="val 2857"/>
            </a:avLst>
          </a:prstGeom>
          <a:solidFill>
            <a:schemeClr val="tx1"/>
          </a:solidFill>
          <a:ln/>
        </p:spPr>
      </p:sp>
      <p:sp>
        <p:nvSpPr>
          <p:cNvPr id="4" name="Data code"/>
          <p:cNvSpPr txBox="1"/>
          <p:nvPr/>
        </p:nvSpPr>
        <p:spPr>
          <a:xfrm>
            <a:off x="731520" y="141732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25 viva questions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id: 1,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category: "HTML",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question: "What is HTML?",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answer: "HyperText ..." }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 mock MCQs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topic: "HTML",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options: [ 4 choices ],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correctAnswer: 1,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explanation: "..." }</a:t>
            </a:r>
            <a:endParaRPr lang="en-US" sz="1400" dirty="0"/>
          </a:p>
        </p:txBody>
      </p:sp>
      <p:sp>
        <p:nvSpPr>
          <p:cNvPr id="5" name="Data point head 1"/>
          <p:cNvSpPr txBox="1"/>
          <p:nvPr/>
        </p:nvSpPr>
        <p:spPr>
          <a:xfrm>
            <a:off x="5486400" y="1280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Two arrays</a:t>
            </a:r>
            <a:endParaRPr lang="en-US" sz="1800" dirty="0"/>
          </a:p>
        </p:txBody>
      </p:sp>
      <p:sp>
        <p:nvSpPr>
          <p:cNvPr id="6" name="Data point text 1"/>
          <p:cNvSpPr txBox="1"/>
          <p:nvPr/>
        </p:nvSpPr>
        <p:spPr>
          <a:xfrm>
            <a:off x="5486400" y="162763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INTERVIEW_QUESTIONS and MOCK_TEST_QUESTIONS</a:t>
            </a:r>
            <a:endParaRPr lang="en-US" sz="1400" dirty="0"/>
          </a:p>
        </p:txBody>
      </p:sp>
      <p:sp>
        <p:nvSpPr>
          <p:cNvPr id="7" name="Data point head 2"/>
          <p:cNvSpPr txBox="1"/>
          <p:nvPr/>
        </p:nvSpPr>
        <p:spPr>
          <a:xfrm>
            <a:off x="5486400" y="2377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Index-based answers</a:t>
            </a:r>
            <a:endParaRPr lang="en-US" sz="1800" dirty="0"/>
          </a:p>
        </p:txBody>
      </p:sp>
      <p:sp>
        <p:nvSpPr>
          <p:cNvPr id="8" name="Data point text 2"/>
          <p:cNvSpPr txBox="1"/>
          <p:nvPr/>
        </p:nvSpPr>
        <p:spPr>
          <a:xfrm>
            <a:off x="5486400" y="272491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correctAnswer stores the option index</a:t>
            </a:r>
            <a:endParaRPr lang="en-US" sz="1400" dirty="0"/>
          </a:p>
        </p:txBody>
      </p:sp>
      <p:sp>
        <p:nvSpPr>
          <p:cNvPr id="9" name="Data point head 3"/>
          <p:cNvSpPr txBox="1"/>
          <p:nvPr/>
        </p:nvSpPr>
        <p:spPr>
          <a:xfrm>
            <a:off x="5486400" y="3474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Built-in explanations</a:t>
            </a:r>
            <a:endParaRPr lang="en-US" sz="1800" dirty="0"/>
          </a:p>
        </p:txBody>
      </p:sp>
      <p:sp>
        <p:nvSpPr>
          <p:cNvPr id="10" name="Data point text 3"/>
          <p:cNvSpPr txBox="1"/>
          <p:nvPr/>
        </p:nvSpPr>
        <p:spPr>
          <a:xfrm>
            <a:off x="5486400" y="38221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Every MCQ explains its right answer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The question bank</a:t>
            </a:r>
            <a:endParaRPr lang="en-US" sz="3400" dirty="0"/>
          </a:p>
        </p:txBody>
      </p:sp>
      <p:sp>
        <p:nvSpPr>
          <p:cNvPr id="3" name="Chart card"/>
          <p:cNvSpPr/>
          <p:nvPr/>
        </p:nvSpPr>
        <p:spPr>
          <a:xfrm>
            <a:off x="548640" y="1280160"/>
            <a:ext cx="4937760" cy="32004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B1D33">
                <a:alpha val="12000"/>
              </a:srgbClr>
            </a:outerShdw>
          </a:effectLst>
        </p:spPr>
      </p:sp>
      <p:graphicFrame>
        <p:nvGraphicFramePr>
          <p:cNvPr id="4" name="Chart 0"/>
          <p:cNvGraphicFramePr/>
          <p:nvPr/>
        </p:nvGraphicFramePr>
        <p:xfrm>
          <a:off x="685800" y="1371600"/>
          <a:ext cx="46634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Bank point head 1"/>
          <p:cNvSpPr txBox="1"/>
          <p:nvPr/>
        </p:nvSpPr>
        <p:spPr>
          <a:xfrm>
            <a:off x="585216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Filter</a:t>
            </a:r>
            <a:endParaRPr lang="en-US" sz="1800" dirty="0"/>
          </a:p>
        </p:txBody>
      </p:sp>
      <p:sp>
        <p:nvSpPr>
          <p:cNvPr id="6" name="Bank point text 1"/>
          <p:cNvSpPr txBox="1"/>
          <p:nvPr/>
        </p:nvSpPr>
        <p:spPr>
          <a:xfrm>
            <a:off x="5852160" y="16276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Category buttons narrow the list</a:t>
            </a:r>
            <a:endParaRPr lang="en-US" sz="1400" dirty="0"/>
          </a:p>
        </p:txBody>
      </p:sp>
      <p:sp>
        <p:nvSpPr>
          <p:cNvPr id="7" name="Bank point head 2"/>
          <p:cNvSpPr txBox="1"/>
          <p:nvPr/>
        </p:nvSpPr>
        <p:spPr>
          <a:xfrm>
            <a:off x="58521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Search</a:t>
            </a:r>
            <a:endParaRPr lang="en-US" sz="1800" dirty="0"/>
          </a:p>
        </p:txBody>
      </p:sp>
      <p:sp>
        <p:nvSpPr>
          <p:cNvPr id="8" name="Bank point text 2"/>
          <p:cNvSpPr txBox="1"/>
          <p:nvPr/>
        </p:nvSpPr>
        <p:spPr>
          <a:xfrm>
            <a:off x="5852160" y="272491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Keyword box filters live as you type</a:t>
            </a:r>
            <a:endParaRPr lang="en-US" sz="1400" dirty="0"/>
          </a:p>
        </p:txBody>
      </p:sp>
      <p:sp>
        <p:nvSpPr>
          <p:cNvPr id="9" name="Bank point head 3"/>
          <p:cNvSpPr txBox="1"/>
          <p:nvPr/>
        </p:nvSpPr>
        <p:spPr>
          <a:xfrm>
            <a:off x="585216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Toggle</a:t>
            </a:r>
            <a:endParaRPr lang="en-US" sz="1800" dirty="0"/>
          </a:p>
        </p:txBody>
      </p:sp>
      <p:sp>
        <p:nvSpPr>
          <p:cNvPr id="10" name="Bank point text 3"/>
          <p:cNvSpPr txBox="1"/>
          <p:nvPr/>
        </p:nvSpPr>
        <p:spPr>
          <a:xfrm>
            <a:off x="5852160" y="382219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Click a card to show or hide its answer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LocalStorage as the database</a:t>
            </a:r>
            <a:endParaRPr lang="en-US" sz="3400" dirty="0"/>
          </a:p>
        </p:txBody>
      </p:sp>
      <p:sp>
        <p:nvSpPr>
          <p:cNvPr id="3" name="Storage code box"/>
          <p:cNvSpPr/>
          <p:nvPr/>
        </p:nvSpPr>
        <p:spPr>
          <a:xfrm>
            <a:off x="548640" y="1280160"/>
            <a:ext cx="4572000" cy="274320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</p:sp>
      <p:sp>
        <p:nvSpPr>
          <p:cNvPr id="4" name="Storage code"/>
          <p:cNvSpPr txBox="1"/>
          <p:nvPr/>
        </p:nvSpPr>
        <p:spPr>
          <a:xfrm>
            <a:off x="731520" y="141732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STORAGE_KEYS =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USERS:       "wd_users",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ACTIVE_USER: "wd_active_user",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HISTORY:     "wd_test_history",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LAST_RESULT: "wd_last_result",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TEST_STATE:  "wd_current_test"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</p:txBody>
      </p:sp>
      <p:sp>
        <p:nvSpPr>
          <p:cNvPr id="5" name="Storage point head 1"/>
          <p:cNvSpPr txBox="1"/>
          <p:nvPr/>
        </p:nvSpPr>
        <p:spPr>
          <a:xfrm>
            <a:off x="5486400" y="1280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JSON in, JSON out</a:t>
            </a:r>
            <a:endParaRPr lang="en-US" sz="1800" dirty="0"/>
          </a:p>
        </p:txBody>
      </p:sp>
      <p:sp>
        <p:nvSpPr>
          <p:cNvPr id="6" name="Storage point text 1"/>
          <p:cNvSpPr txBox="1"/>
          <p:nvPr/>
        </p:nvSpPr>
        <p:spPr>
          <a:xfrm>
            <a:off x="5486400" y="162763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JSON.stringify to save, JSON.parse to read</a:t>
            </a:r>
            <a:endParaRPr lang="en-US" sz="1400" dirty="0"/>
          </a:p>
        </p:txBody>
      </p:sp>
      <p:sp>
        <p:nvSpPr>
          <p:cNvPr id="7" name="Storage point head 2"/>
          <p:cNvSpPr txBox="1"/>
          <p:nvPr/>
        </p:nvSpPr>
        <p:spPr>
          <a:xfrm>
            <a:off x="5486400" y="2377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Seeded on load</a:t>
            </a:r>
            <a:endParaRPr lang="en-US" sz="1800" dirty="0"/>
          </a:p>
        </p:txBody>
      </p:sp>
      <p:sp>
        <p:nvSpPr>
          <p:cNvPr id="8" name="Storage point text 2"/>
          <p:cNvSpPr txBox="1"/>
          <p:nvPr/>
        </p:nvSpPr>
        <p:spPr>
          <a:xfrm>
            <a:off x="5486400" y="272491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initStorage() adds a demo student and sample history</a:t>
            </a:r>
            <a:endParaRPr lang="en-US" sz="1400" dirty="0"/>
          </a:p>
        </p:txBody>
      </p:sp>
      <p:sp>
        <p:nvSpPr>
          <p:cNvPr id="9" name="Storage point head 3"/>
          <p:cNvSpPr txBox="1"/>
          <p:nvPr/>
        </p:nvSpPr>
        <p:spPr>
          <a:xfrm>
            <a:off x="5486400" y="3474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Survives refresh</a:t>
            </a:r>
            <a:endParaRPr lang="en-US" sz="1800" dirty="0"/>
          </a:p>
        </p:txBody>
      </p:sp>
      <p:sp>
        <p:nvSpPr>
          <p:cNvPr id="10" name="Storage point text 3"/>
          <p:cNvSpPr txBox="1"/>
          <p:nvPr/>
        </p:nvSpPr>
        <p:spPr>
          <a:xfrm>
            <a:off x="5486400" y="38221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Test progress is saved every second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Mock test engine</a:t>
            </a:r>
            <a:endParaRPr lang="en-US" sz="3400" dirty="0"/>
          </a:p>
        </p:txBody>
      </p:sp>
      <p:sp>
        <p:nvSpPr>
          <p:cNvPr id="3" name="Engine row 1"/>
          <p:cNvSpPr/>
          <p:nvPr/>
        </p:nvSpPr>
        <p:spPr>
          <a:xfrm>
            <a:off x="548640" y="1280160"/>
            <a:ext cx="457200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4" name="Engine 1 circle"/>
          <p:cNvSpPr/>
          <p:nvPr/>
        </p:nvSpPr>
        <p:spPr>
          <a:xfrm>
            <a:off x="685800" y="1362456"/>
            <a:ext cx="521208" cy="52120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Engine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102" y="1492758"/>
            <a:ext cx="260604" cy="260604"/>
          </a:xfrm>
          <a:prstGeom prst="rect">
            <a:avLst/>
          </a:prstGeom>
        </p:spPr>
      </p:pic>
      <p:sp>
        <p:nvSpPr>
          <p:cNvPr id="6" name="Engine name 1"/>
          <p:cNvSpPr txBox="1"/>
          <p:nvPr/>
        </p:nvSpPr>
        <p:spPr>
          <a:xfrm>
            <a:off x="1371600" y="12801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Countdown</a:t>
            </a:r>
            <a:endParaRPr lang="en-US" sz="1600" dirty="0"/>
          </a:p>
        </p:txBody>
      </p:sp>
      <p:sp>
        <p:nvSpPr>
          <p:cNvPr id="7" name="Engine note 1"/>
          <p:cNvSpPr txBox="1"/>
          <p:nvPr/>
        </p:nvSpPr>
        <p:spPr>
          <a:xfrm>
            <a:off x="3017520" y="12801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accent3"/>
                </a:solidFill>
              </a:rPr>
              <a:t>600 seconds via setInterval</a:t>
            </a:r>
            <a:endParaRPr lang="en-US" sz="1400" dirty="0"/>
          </a:p>
        </p:txBody>
      </p:sp>
      <p:sp>
        <p:nvSpPr>
          <p:cNvPr id="8" name="Engine row 2"/>
          <p:cNvSpPr/>
          <p:nvPr/>
        </p:nvSpPr>
        <p:spPr>
          <a:xfrm>
            <a:off x="548640" y="2103120"/>
            <a:ext cx="457200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9" name="Engine 2 circle"/>
          <p:cNvSpPr/>
          <p:nvPr/>
        </p:nvSpPr>
        <p:spPr>
          <a:xfrm>
            <a:off x="685800" y="2185416"/>
            <a:ext cx="521208" cy="52120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Engine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02" y="2315718"/>
            <a:ext cx="260604" cy="260604"/>
          </a:xfrm>
          <a:prstGeom prst="rect">
            <a:avLst/>
          </a:prstGeom>
        </p:spPr>
      </p:pic>
      <p:sp>
        <p:nvSpPr>
          <p:cNvPr id="11" name="Engine name 2"/>
          <p:cNvSpPr txBox="1"/>
          <p:nvPr/>
        </p:nvSpPr>
        <p:spPr>
          <a:xfrm>
            <a:off x="1371600" y="21031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Question palette</a:t>
            </a:r>
            <a:endParaRPr lang="en-US" sz="1600" dirty="0"/>
          </a:p>
        </p:txBody>
      </p:sp>
      <p:sp>
        <p:nvSpPr>
          <p:cNvPr id="12" name="Engine note 2"/>
          <p:cNvSpPr txBox="1"/>
          <p:nvPr/>
        </p:nvSpPr>
        <p:spPr>
          <a:xfrm>
            <a:off x="3017520" y="21031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accent3"/>
                </a:solidFill>
              </a:rPr>
              <a:t>Jump to any of the 10 questions</a:t>
            </a:r>
            <a:endParaRPr lang="en-US" sz="1400" dirty="0"/>
          </a:p>
        </p:txBody>
      </p:sp>
      <p:sp>
        <p:nvSpPr>
          <p:cNvPr id="13" name="Engine row 3"/>
          <p:cNvSpPr/>
          <p:nvPr/>
        </p:nvSpPr>
        <p:spPr>
          <a:xfrm>
            <a:off x="548640" y="2926080"/>
            <a:ext cx="457200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4" name="Engine 3 circle"/>
          <p:cNvSpPr/>
          <p:nvPr/>
        </p:nvSpPr>
        <p:spPr>
          <a:xfrm>
            <a:off x="685800" y="3008376"/>
            <a:ext cx="521208" cy="52120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Engine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02" y="3138678"/>
            <a:ext cx="260604" cy="260604"/>
          </a:xfrm>
          <a:prstGeom prst="rect">
            <a:avLst/>
          </a:prstGeom>
        </p:spPr>
      </p:pic>
      <p:sp>
        <p:nvSpPr>
          <p:cNvPr id="16" name="Engine name 3"/>
          <p:cNvSpPr txBox="1"/>
          <p:nvPr/>
        </p:nvSpPr>
        <p:spPr>
          <a:xfrm>
            <a:off x="1371600" y="29260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Scoring</a:t>
            </a:r>
            <a:endParaRPr lang="en-US" sz="1600" dirty="0"/>
          </a:p>
        </p:txBody>
      </p:sp>
      <p:sp>
        <p:nvSpPr>
          <p:cNvPr id="17" name="Engine note 3"/>
          <p:cNvSpPr txBox="1"/>
          <p:nvPr/>
        </p:nvSpPr>
        <p:spPr>
          <a:xfrm>
            <a:off x="3017520" y="29260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accent3"/>
                </a:solidFill>
              </a:rPr>
              <a:t>1 point per correct answer</a:t>
            </a:r>
            <a:endParaRPr lang="en-US" sz="1400" dirty="0"/>
          </a:p>
        </p:txBody>
      </p:sp>
      <p:sp>
        <p:nvSpPr>
          <p:cNvPr id="18" name="Engine row 4"/>
          <p:cNvSpPr/>
          <p:nvPr/>
        </p:nvSpPr>
        <p:spPr>
          <a:xfrm>
            <a:off x="548640" y="3749040"/>
            <a:ext cx="457200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9" name="Engine 4 circle"/>
          <p:cNvSpPr/>
          <p:nvPr/>
        </p:nvSpPr>
        <p:spPr>
          <a:xfrm>
            <a:off x="685800" y="3831336"/>
            <a:ext cx="521208" cy="52120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0" name="Engine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102" y="3961638"/>
            <a:ext cx="260604" cy="260604"/>
          </a:xfrm>
          <a:prstGeom prst="rect">
            <a:avLst/>
          </a:prstGeom>
        </p:spPr>
      </p:pic>
      <p:sp>
        <p:nvSpPr>
          <p:cNvPr id="21" name="Engine name 4"/>
          <p:cNvSpPr txBox="1"/>
          <p:nvPr/>
        </p:nvSpPr>
        <p:spPr>
          <a:xfrm>
            <a:off x="1371600" y="37490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Auto-submit</a:t>
            </a:r>
            <a:endParaRPr lang="en-US" sz="1600" dirty="0"/>
          </a:p>
        </p:txBody>
      </p:sp>
      <p:sp>
        <p:nvSpPr>
          <p:cNvPr id="22" name="Engine note 4"/>
          <p:cNvSpPr txBox="1"/>
          <p:nvPr/>
        </p:nvSpPr>
        <p:spPr>
          <a:xfrm>
            <a:off x="3017520" y="3749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accent3"/>
                </a:solidFill>
              </a:rPr>
              <a:t>Time up saves the attempt</a:t>
            </a:r>
            <a:endParaRPr lang="en-US" sz="1400" dirty="0"/>
          </a:p>
        </p:txBody>
      </p:sp>
      <p:sp>
        <p:nvSpPr>
          <p:cNvPr id="23" name="Engine JS box"/>
          <p:cNvSpPr/>
          <p:nvPr/>
        </p:nvSpPr>
        <p:spPr>
          <a:xfrm>
            <a:off x="5486400" y="1280160"/>
            <a:ext cx="3108960" cy="1965960"/>
          </a:xfrm>
          <a:prstGeom prst="roundRect">
            <a:avLst>
              <a:gd name="adj" fmla="val 4651"/>
            </a:avLst>
          </a:prstGeom>
          <a:solidFill>
            <a:schemeClr val="tx2"/>
          </a:solidFill>
          <a:ln/>
        </p:spPr>
      </p:sp>
      <p:sp>
        <p:nvSpPr>
          <p:cNvPr id="24" name="Engine JS"/>
          <p:cNvSpPr txBox="1"/>
          <p:nvPr/>
        </p:nvSpPr>
        <p:spPr>
          <a:xfrm>
            <a:off x="5669280" y="1417320"/>
            <a:ext cx="2743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testSecondsRemaining--;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(testSecondsRemaining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&lt;= 0)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finalizeTestSubmission();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 = percentage &gt;= 50;</a:t>
            </a:r>
            <a:endParaRPr lang="en-US" sz="1200" dirty="0"/>
          </a:p>
        </p:txBody>
      </p:sp>
      <p:sp>
        <p:nvSpPr>
          <p:cNvPr id="25" name="Engine caption"/>
          <p:cNvSpPr txBox="1"/>
          <p:nvPr/>
        </p:nvSpPr>
        <p:spPr>
          <a:xfrm>
            <a:off x="5486400" y="3383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The result record, with score, date and answers, is appended to the saved history.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Dashboard, profile and admin</a:t>
            </a:r>
            <a:endParaRPr lang="en-US" sz="3400" dirty="0"/>
          </a:p>
        </p:txBody>
      </p:sp>
      <p:sp>
        <p:nvSpPr>
          <p:cNvPr id="3" name="Page card 1"/>
          <p:cNvSpPr/>
          <p:nvPr/>
        </p:nvSpPr>
        <p:spPr>
          <a:xfrm>
            <a:off x="548640" y="1371600"/>
            <a:ext cx="2560320" cy="256032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B1D33">
                <a:alpha val="12000"/>
              </a:srgbClr>
            </a:outerShdw>
          </a:effectLst>
        </p:spPr>
      </p:sp>
      <p:sp>
        <p:nvSpPr>
          <p:cNvPr id="4" name="Page 1 circle"/>
          <p:cNvSpPr/>
          <p:nvPr/>
        </p:nvSpPr>
        <p:spPr>
          <a:xfrm>
            <a:off x="777240" y="16002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Page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760220"/>
            <a:ext cx="320040" cy="320040"/>
          </a:xfrm>
          <a:prstGeom prst="rect">
            <a:avLst/>
          </a:prstGeom>
        </p:spPr>
      </p:pic>
      <p:sp>
        <p:nvSpPr>
          <p:cNvPr id="6" name="Page head 1"/>
          <p:cNvSpPr txBox="1"/>
          <p:nvPr/>
        </p:nvSpPr>
        <p:spPr>
          <a:xfrm>
            <a:off x="777240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Dashboard</a:t>
            </a:r>
            <a:endParaRPr lang="en-US" sz="2000" dirty="0"/>
          </a:p>
        </p:txBody>
      </p:sp>
      <p:sp>
        <p:nvSpPr>
          <p:cNvPr id="7" name="Page text 1"/>
          <p:cNvSpPr txBox="1"/>
          <p:nvPr/>
        </p:nvSpPr>
        <p:spPr>
          <a:xfrm>
            <a:off x="777240" y="27889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Tests completed, latest score and average, with a topic breakdown.</a:t>
            </a:r>
            <a:endParaRPr lang="en-US" sz="1400" dirty="0"/>
          </a:p>
        </p:txBody>
      </p:sp>
      <p:sp>
        <p:nvSpPr>
          <p:cNvPr id="8" name="Page card 2"/>
          <p:cNvSpPr/>
          <p:nvPr/>
        </p:nvSpPr>
        <p:spPr>
          <a:xfrm>
            <a:off x="3291840" y="1371600"/>
            <a:ext cx="2560320" cy="256032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B1D33">
                <a:alpha val="12000"/>
              </a:srgbClr>
            </a:outerShdw>
          </a:effectLst>
        </p:spPr>
      </p:sp>
      <p:sp>
        <p:nvSpPr>
          <p:cNvPr id="9" name="Page 2 circle"/>
          <p:cNvSpPr/>
          <p:nvPr/>
        </p:nvSpPr>
        <p:spPr>
          <a:xfrm>
            <a:off x="352044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Page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1760220"/>
            <a:ext cx="320040" cy="320040"/>
          </a:xfrm>
          <a:prstGeom prst="rect">
            <a:avLst/>
          </a:prstGeom>
        </p:spPr>
      </p:pic>
      <p:sp>
        <p:nvSpPr>
          <p:cNvPr id="11" name="Page head 2"/>
          <p:cNvSpPr txBox="1"/>
          <p:nvPr/>
        </p:nvSpPr>
        <p:spPr>
          <a:xfrm>
            <a:off x="3520440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Profile</a:t>
            </a:r>
            <a:endParaRPr lang="en-US" sz="2000" dirty="0"/>
          </a:p>
        </p:txBody>
      </p:sp>
      <p:sp>
        <p:nvSpPr>
          <p:cNvPr id="12" name="Page text 2"/>
          <p:cNvSpPr txBox="1"/>
          <p:nvPr/>
        </p:nvSpPr>
        <p:spPr>
          <a:xfrm>
            <a:off x="3520440" y="27889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Edit name, roll number, semester and target role. Email is read-only.</a:t>
            </a:r>
            <a:endParaRPr lang="en-US" sz="1400" dirty="0"/>
          </a:p>
        </p:txBody>
      </p:sp>
      <p:sp>
        <p:nvSpPr>
          <p:cNvPr id="13" name="Page card 3"/>
          <p:cNvSpPr/>
          <p:nvPr/>
        </p:nvSpPr>
        <p:spPr>
          <a:xfrm>
            <a:off x="6035040" y="1371600"/>
            <a:ext cx="2560320" cy="256032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B1D33">
                <a:alpha val="12000"/>
              </a:srgbClr>
            </a:outerShdw>
          </a:effectLst>
        </p:spPr>
      </p:sp>
      <p:sp>
        <p:nvSpPr>
          <p:cNvPr id="14" name="Page 3 circle"/>
          <p:cNvSpPr/>
          <p:nvPr/>
        </p:nvSpPr>
        <p:spPr>
          <a:xfrm>
            <a:off x="6263640" y="160020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Page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3660" y="1760220"/>
            <a:ext cx="320040" cy="320040"/>
          </a:xfrm>
          <a:prstGeom prst="rect">
            <a:avLst/>
          </a:prstGeom>
        </p:spPr>
      </p:pic>
      <p:sp>
        <p:nvSpPr>
          <p:cNvPr id="16" name="Page head 3"/>
          <p:cNvSpPr txBox="1"/>
          <p:nvPr/>
        </p:nvSpPr>
        <p:spPr>
          <a:xfrm>
            <a:off x="6263640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Admin demo</a:t>
            </a:r>
            <a:endParaRPr lang="en-US" sz="2000" dirty="0"/>
          </a:p>
        </p:txBody>
      </p:sp>
      <p:sp>
        <p:nvSpPr>
          <p:cNvPr id="17" name="Page text 3"/>
          <p:cNvSpPr txBox="1"/>
          <p:nvPr/>
        </p:nvSpPr>
        <p:spPr>
          <a:xfrm>
            <a:off x="6263640" y="27889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Student registry, attempt count, question bank and pass rate.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Safeguards and next steps</a:t>
            </a:r>
            <a:endParaRPr lang="en-US" sz="3400" dirty="0"/>
          </a:p>
        </p:txBody>
      </p:sp>
      <p:sp>
        <p:nvSpPr>
          <p:cNvPr id="3" name="Done card"/>
          <p:cNvSpPr/>
          <p:nvPr/>
        </p:nvSpPr>
        <p:spPr>
          <a:xfrm>
            <a:off x="548640" y="1280160"/>
            <a:ext cx="3931920" cy="32004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B1D33">
                <a:alpha val="12000"/>
              </a:srgbClr>
            </a:outerShdw>
          </a:effectLst>
        </p:spPr>
      </p:sp>
      <p:sp>
        <p:nvSpPr>
          <p:cNvPr id="4" name="Next card"/>
          <p:cNvSpPr/>
          <p:nvPr/>
        </p:nvSpPr>
        <p:spPr>
          <a:xfrm>
            <a:off x="4663440" y="1280160"/>
            <a:ext cx="3931920" cy="32004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B1D33">
                <a:alpha val="12000"/>
              </a:srgbClr>
            </a:outerShdw>
          </a:effectLst>
        </p:spPr>
      </p:sp>
      <p:sp>
        <p:nvSpPr>
          <p:cNvPr id="5" name="Done head"/>
          <p:cNvSpPr txBox="1"/>
          <p:nvPr/>
        </p:nvSpPr>
        <p:spPr>
          <a:xfrm>
            <a:off x="77724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Already in place</a:t>
            </a:r>
            <a:endParaRPr lang="en-US" sz="2000" dirty="0"/>
          </a:p>
        </p:txBody>
      </p:sp>
      <p:sp>
        <p:nvSpPr>
          <p:cNvPr id="6" name="Next head"/>
          <p:cNvSpPr txBox="1"/>
          <p:nvPr/>
        </p:nvSpPr>
        <p:spPr>
          <a:xfrm>
            <a:off x="489204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Next improvements</a:t>
            </a:r>
            <a:endParaRPr lang="en-US" sz="2000" dirty="0"/>
          </a:p>
        </p:txBody>
      </p:sp>
      <p:pic>
        <p:nvPicPr>
          <p:cNvPr id="7" name="Done icon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65960"/>
            <a:ext cx="274320" cy="274320"/>
          </a:xfrm>
          <a:prstGeom prst="rect">
            <a:avLst/>
          </a:prstGeom>
        </p:spPr>
      </p:pic>
      <p:sp>
        <p:nvSpPr>
          <p:cNvPr id="8" name="Done text 1"/>
          <p:cNvSpPr txBox="1"/>
          <p:nvPr/>
        </p:nvSpPr>
        <p:spPr>
          <a:xfrm>
            <a:off x="1188720" y="1920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escapeHtml() before showing user text</a:t>
            </a:r>
            <a:endParaRPr lang="en-US" sz="1400" dirty="0"/>
          </a:p>
        </p:txBody>
      </p:sp>
      <p:pic>
        <p:nvPicPr>
          <p:cNvPr id="9" name="Done icon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87752"/>
            <a:ext cx="274320" cy="274320"/>
          </a:xfrm>
          <a:prstGeom prst="rect">
            <a:avLst/>
          </a:prstGeom>
        </p:spPr>
      </p:pic>
      <p:sp>
        <p:nvSpPr>
          <p:cNvPr id="10" name="Done text 2"/>
          <p:cNvSpPr txBox="1"/>
          <p:nvPr/>
        </p:nvSpPr>
        <p:spPr>
          <a:xfrm>
            <a:off x="1188720" y="25420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Required fields and password length checks</a:t>
            </a:r>
            <a:endParaRPr lang="en-US" sz="1400" dirty="0"/>
          </a:p>
        </p:txBody>
      </p:sp>
      <p:pic>
        <p:nvPicPr>
          <p:cNvPr id="11" name="Done icon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09544"/>
            <a:ext cx="274320" cy="274320"/>
          </a:xfrm>
          <a:prstGeom prst="rect">
            <a:avLst/>
          </a:prstGeom>
        </p:spPr>
      </p:pic>
      <p:sp>
        <p:nvSpPr>
          <p:cNvPr id="12" name="Done text 3"/>
          <p:cNvSpPr txBox="1"/>
          <p:nvPr/>
        </p:nvSpPr>
        <p:spPr>
          <a:xfrm>
            <a:off x="1188720" y="316382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Login guard with a demo auto-login</a:t>
            </a:r>
            <a:endParaRPr lang="en-US" sz="1400" dirty="0"/>
          </a:p>
        </p:txBody>
      </p:sp>
      <p:pic>
        <p:nvPicPr>
          <p:cNvPr id="13" name="Done icon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31336"/>
            <a:ext cx="274320" cy="274320"/>
          </a:xfrm>
          <a:prstGeom prst="rect">
            <a:avLst/>
          </a:prstGeom>
        </p:spPr>
      </p:pic>
      <p:sp>
        <p:nvSpPr>
          <p:cNvPr id="14" name="Done text 4"/>
          <p:cNvSpPr txBox="1"/>
          <p:nvPr/>
        </p:nvSpPr>
        <p:spPr>
          <a:xfrm>
            <a:off x="1188720" y="378561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Banners state it is a front-end demo</a:t>
            </a:r>
            <a:endParaRPr lang="en-US" sz="1400" dirty="0"/>
          </a:p>
        </p:txBody>
      </p:sp>
      <p:pic>
        <p:nvPicPr>
          <p:cNvPr id="15" name="Next icon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965960"/>
            <a:ext cx="274320" cy="274320"/>
          </a:xfrm>
          <a:prstGeom prst="rect">
            <a:avLst/>
          </a:prstGeom>
        </p:spPr>
      </p:pic>
      <p:sp>
        <p:nvSpPr>
          <p:cNvPr id="16" name="Next text 1"/>
          <p:cNvSpPr txBox="1"/>
          <p:nvPr/>
        </p:nvSpPr>
        <p:spPr>
          <a:xfrm>
            <a:off x="5303520" y="1920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Hash passwords; they are stored as plain text</a:t>
            </a:r>
            <a:endParaRPr lang="en-US" sz="1400" dirty="0"/>
          </a:p>
        </p:txBody>
      </p:sp>
      <p:pic>
        <p:nvPicPr>
          <p:cNvPr id="17" name="Next icon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587752"/>
            <a:ext cx="274320" cy="274320"/>
          </a:xfrm>
          <a:prstGeom prst="rect">
            <a:avLst/>
          </a:prstGeom>
        </p:spPr>
      </p:pic>
      <p:sp>
        <p:nvSpPr>
          <p:cNvPr id="18" name="Next text 2"/>
          <p:cNvSpPr txBox="1"/>
          <p:nvPr/>
        </p:nvSpPr>
        <p:spPr>
          <a:xfrm>
            <a:off x="5303520" y="25420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Move data to a REST API and MySQL</a:t>
            </a:r>
            <a:endParaRPr lang="en-US" sz="1400" dirty="0"/>
          </a:p>
        </p:txBody>
      </p:sp>
      <p:pic>
        <p:nvPicPr>
          <p:cNvPr id="19" name="Next icon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209544"/>
            <a:ext cx="274320" cy="274320"/>
          </a:xfrm>
          <a:prstGeom prst="rect">
            <a:avLst/>
          </a:prstGeom>
        </p:spPr>
      </p:pic>
      <p:sp>
        <p:nvSpPr>
          <p:cNvPr id="20" name="Next text 3"/>
          <p:cNvSpPr txBox="1"/>
          <p:nvPr/>
        </p:nvSpPr>
        <p:spPr>
          <a:xfrm>
            <a:off x="5303520" y="316382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Protect the admin page with real roles</a:t>
            </a:r>
            <a:endParaRPr lang="en-US" sz="1400" dirty="0"/>
          </a:p>
        </p:txBody>
      </p:sp>
      <p:pic>
        <p:nvPicPr>
          <p:cNvPr id="21" name="Next icon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831336"/>
            <a:ext cx="274320" cy="274320"/>
          </a:xfrm>
          <a:prstGeom prst="rect">
            <a:avLst/>
          </a:prstGeom>
        </p:spPr>
      </p:pic>
      <p:sp>
        <p:nvSpPr>
          <p:cNvPr id="22" name="Next text 4"/>
          <p:cNvSpPr txBox="1"/>
          <p:nvPr/>
        </p:nvSpPr>
        <p:spPr>
          <a:xfrm>
            <a:off x="5303520" y="378561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Remove unused React and Gemini template files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Key takeaways</a:t>
            </a:r>
            <a:endParaRPr lang="en-US" sz="3400" dirty="0"/>
          </a:p>
        </p:txBody>
      </p:sp>
      <p:sp>
        <p:nvSpPr>
          <p:cNvPr id="3" name="Takeaway card 1"/>
          <p:cNvSpPr/>
          <p:nvPr/>
        </p:nvSpPr>
        <p:spPr>
          <a:xfrm>
            <a:off x="548640" y="137160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</p:spPr>
      </p:sp>
      <p:sp>
        <p:nvSpPr>
          <p:cNvPr id="4" name="Takeaway 1 circle"/>
          <p:cNvSpPr/>
          <p:nvPr/>
        </p:nvSpPr>
        <p:spPr>
          <a:xfrm>
            <a:off x="777240" y="16002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Takeaway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760220"/>
            <a:ext cx="320040" cy="320040"/>
          </a:xfrm>
          <a:prstGeom prst="rect">
            <a:avLst/>
          </a:prstGeom>
        </p:spPr>
      </p:pic>
      <p:sp>
        <p:nvSpPr>
          <p:cNvPr id="6" name="Takeaway head 1"/>
          <p:cNvSpPr txBox="1"/>
          <p:nvPr/>
        </p:nvSpPr>
        <p:spPr>
          <a:xfrm>
            <a:off x="77724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No server needed</a:t>
            </a:r>
            <a:endParaRPr lang="en-US" sz="1800" dirty="0"/>
          </a:p>
        </p:txBody>
      </p:sp>
      <p:sp>
        <p:nvSpPr>
          <p:cNvPr id="7" name="Takeaway text 1"/>
          <p:cNvSpPr txBox="1"/>
          <p:nvPr/>
        </p:nvSpPr>
        <p:spPr>
          <a:xfrm>
            <a:off x="777240" y="2788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Plain HTML, CSS and JS with LocalStorage persistence</a:t>
            </a:r>
            <a:endParaRPr lang="en-US" sz="1400" dirty="0"/>
          </a:p>
        </p:txBody>
      </p:sp>
      <p:sp>
        <p:nvSpPr>
          <p:cNvPr id="8" name="Takeaway card 2"/>
          <p:cNvSpPr/>
          <p:nvPr/>
        </p:nvSpPr>
        <p:spPr>
          <a:xfrm>
            <a:off x="3314700" y="137160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</p:spPr>
      </p:sp>
      <p:sp>
        <p:nvSpPr>
          <p:cNvPr id="9" name="Takeaway 2 circle"/>
          <p:cNvSpPr/>
          <p:nvPr/>
        </p:nvSpPr>
        <p:spPr>
          <a:xfrm>
            <a:off x="352044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Takeaway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1760220"/>
            <a:ext cx="320040" cy="320040"/>
          </a:xfrm>
          <a:prstGeom prst="rect">
            <a:avLst/>
          </a:prstGeom>
        </p:spPr>
      </p:pic>
      <p:sp>
        <p:nvSpPr>
          <p:cNvPr id="11" name="Takeaway head 2"/>
          <p:cNvSpPr txBox="1"/>
          <p:nvPr/>
        </p:nvSpPr>
        <p:spPr>
          <a:xfrm>
            <a:off x="352044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Practice that sticks</a:t>
            </a:r>
            <a:endParaRPr lang="en-US" sz="1800" dirty="0"/>
          </a:p>
        </p:txBody>
      </p:sp>
      <p:sp>
        <p:nvSpPr>
          <p:cNvPr id="12" name="Takeaway text 2"/>
          <p:cNvSpPr txBox="1"/>
          <p:nvPr/>
        </p:nvSpPr>
        <p:spPr>
          <a:xfrm>
            <a:off x="3520440" y="2788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Viva Q&amp;A plus a timed test with explanations</a:t>
            </a:r>
            <a:endParaRPr lang="en-US" sz="1400" dirty="0"/>
          </a:p>
        </p:txBody>
      </p:sp>
      <p:sp>
        <p:nvSpPr>
          <p:cNvPr id="13" name="Takeaway card 3"/>
          <p:cNvSpPr/>
          <p:nvPr/>
        </p:nvSpPr>
        <p:spPr>
          <a:xfrm>
            <a:off x="6035040" y="137160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</p:spPr>
      </p:sp>
      <p:sp>
        <p:nvSpPr>
          <p:cNvPr id="14" name="Takeaway 3 circle"/>
          <p:cNvSpPr/>
          <p:nvPr/>
        </p:nvSpPr>
        <p:spPr>
          <a:xfrm>
            <a:off x="6263640" y="160020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Takeaway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3660" y="1760220"/>
            <a:ext cx="320040" cy="320040"/>
          </a:xfrm>
          <a:prstGeom prst="rect">
            <a:avLst/>
          </a:prstGeom>
        </p:spPr>
      </p:pic>
      <p:sp>
        <p:nvSpPr>
          <p:cNvPr id="16" name="Takeaway head 3"/>
          <p:cNvSpPr txBox="1"/>
          <p:nvPr/>
        </p:nvSpPr>
        <p:spPr>
          <a:xfrm>
            <a:off x="626364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Ready to grow</a:t>
            </a:r>
            <a:endParaRPr lang="en-US" sz="1800" dirty="0"/>
          </a:p>
        </p:txBody>
      </p:sp>
      <p:sp>
        <p:nvSpPr>
          <p:cNvPr id="17" name="Takeaway text 3"/>
          <p:cNvSpPr txBox="1"/>
          <p:nvPr/>
        </p:nvSpPr>
        <p:spPr>
          <a:xfrm>
            <a:off x="6263640" y="2788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Swap LocalStorage for an API and a database</a:t>
            </a:r>
            <a:endParaRPr lang="en-US" sz="1400" dirty="0"/>
          </a:p>
        </p:txBody>
      </p:sp>
      <p:sp>
        <p:nvSpPr>
          <p:cNvPr id="18" name="Closing line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Thank you.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ather Sky">
  <a:themeElements>
    <a:clrScheme name="Weather Sky">
      <a:dk1>
        <a:srgbClr val="0B1D33"/>
      </a:dk1>
      <a:lt1>
        <a:srgbClr val="FFFFFF"/>
      </a:lt1>
      <a:dk2>
        <a:srgbClr val="16324F"/>
      </a:dk2>
      <a:lt2>
        <a:srgbClr val="EAF2FA"/>
      </a:lt2>
      <a:accent1>
        <a:srgbClr val="F5A623"/>
      </a:accent1>
      <a:accent2>
        <a:srgbClr val="2F80C8"/>
      </a:accent2>
      <a:accent3>
        <a:srgbClr val="5BC0EB"/>
      </a:accent3>
      <a:accent4>
        <a:srgbClr val="7A8FA6"/>
      </a:accent4>
      <a:accent5>
        <a:srgbClr val="2E9E6B"/>
      </a:accent5>
      <a:accent6>
        <a:srgbClr val="D9534F"/>
      </a:accent6>
      <a:hlink>
        <a:srgbClr val="2F80C8"/>
      </a:hlink>
      <a:folHlink>
        <a:srgbClr val="7A8FA6"/>
      </a:folHlink>
    </a:clrScheme>
    <a:fontScheme name="Weather Sk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732</Words>
  <Application>Microsoft Office PowerPoint</Application>
  <PresentationFormat>On-screen Show (16:9)</PresentationFormat>
  <Paragraphs>169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Weather Sky</vt:lpstr>
      <vt:lpstr>Interview Prep System</vt:lpstr>
      <vt:lpstr>Project overview</vt:lpstr>
      <vt:lpstr>Technologies used</vt:lpstr>
      <vt:lpstr>How a student uses it</vt:lpstr>
      <vt:lpstr>Project structure</vt:lpstr>
      <vt:lpstr>Question data in app.js</vt:lpstr>
      <vt:lpstr>The question bank</vt:lpstr>
      <vt:lpstr>LocalStorage as the database</vt:lpstr>
      <vt:lpstr>Mock test engine</vt:lpstr>
      <vt:lpstr>Dashboard, profile and admin</vt:lpstr>
      <vt:lpstr>Safeguards and next steps</vt:lpstr>
      <vt:lpstr>Key takeaways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 Data Display</dc:title>
  <dc:subject>Web Development</dc:subject>
  <dc:creator>PptxGenJS</dc:creator>
  <cp:lastModifiedBy>het patel</cp:lastModifiedBy>
  <cp:revision>2</cp:revision>
  <dcterms:created xsi:type="dcterms:W3CDTF">2026-10-22T08:52:45Z</dcterms:created>
  <dcterms:modified xsi:type="dcterms:W3CDTF">2026-10-22T15:25:58Z</dcterms:modified>
</cp:coreProperties>
</file>